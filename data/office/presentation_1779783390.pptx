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926080"/>
            <a:ext cx="2286000" cy="36576"/>
          </a:xfrm>
          <a:prstGeom prst="rect">
            <a:avLst/>
          </a:prstGeom>
          <a:solidFill>
            <a:srgbClr val="2B5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200400"/>
            <a:ext cx="10545775" cy="1371600"/>
          </a:xfrm>
          <a:prstGeom prst="rect">
            <a:avLst/>
          </a:prstGeom>
          <a:noFill/>
        </p:spPr>
        <p:txBody>
          <a:bodyPr wrap="square">
            <a:spAutoFit/>
          </a:bodyPr>
          <a:lstStyle/>
          <a:p>
            <a:pPr algn="l">
              <a:defRPr sz="4200" b="1">
                <a:solidFill>
                  <a:srgbClr val="FFFFFF"/>
                </a:solidFill>
                <a:latin typeface="Helvetica"/>
              </a:defRPr>
            </a:pPr>
            <a:r>
              <a:t>柜面系统日常管理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系统登录</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进入系统后，在“用户名”栏输入柜员号，输入完成后，机构名称自动回显。登录方式为校验密码+指纹或电话号码+指纹（由统一用户平台统一设置），校验无误即登录成功，进入工作界面。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【注意事项】：（1）柜员登录时，需要校验柜员状态，出现请休假、离退休、身份证信息过期未更新、柜员密码过期（超 30 天未变更）、锁定等异常情况时，系统报错并拒绝登录；（2） 柜员登录时由统一机构用户系统控制用户登录失效日期，第25天开始提示修改，30天后强制阻断登录，修改密码后方可登录。（3）支持上级机构登出下级机构柜员。</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屏幕锁定及解锁</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屏幕锁定</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进入主界面后，点击右上方小箭头，弹出“柜员信息栏”，点击“锁屏”按钮，进行屏幕锁定。</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屏幕解锁</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激活屏幕后，点击“解锁”按钮，输入密码加指纹，完成屏幕解锁，进入工作界面。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登录密码修改</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步骤1:进入主界面后，点击右上方小箭头，弹出“个人信息栏”，点击“密码修改”，弹出密码修改栏。</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步骤2:输入“旧密码”、“新密码”、确认密码后点击“确定”。</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步骤3:系统提示“密码修改成功，请重新登录”。点击“确定”后，返回登录界面，输入新密码后点击“登录”按钮可重新登录。</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【注意事项】：系统强控柜员登录密码必须30天内进行修改。</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柜员流水查询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业务说明</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本场景用于查询柜员当日与历史，柜面、自助、pad办理业务产生的流水信息。其中包括：“通讯流水查询”、“打印流水查询”、“无纸化流水详情”、“授权流水详情”和“抹账”。</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（1）通讯流水查询主要用于业务系统之间进行交互产生的通讯记录及通讯信息。</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（2）打印流水查询主要用于每笔交易凭证打印情况查询，支持凭证补打。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（3）无纸化流水查询主要用于该笔业务产生的所有无纸化凭证信息的查询。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（4）授权流水查询主要用于授权交易的授权详情查询。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（5）抹账主要用于对产生的业务信息进行抹账处理的操作。</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（6）柜员流水查询可关联查看该笔业务的影像信息。</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操作流程</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步骤1:输入交易代码“041101”或场景名称进入“流水查询”场景界面。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步骤2：进入界面后，点击“查询”按钮，查询柜员当日及历史业务办理详情。支持输入各项查询条件可进行精准查询。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通讯流水查询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点击“通讯流水查询”，系统回显后台各业务系统的业务流水。</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打印流水详情</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点击“打印流水详情”，系统回显该笔交易产生的业务凭证，勾选后，点击“打印”。</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输入“打印原因”后，点击“确认”，在打印机中放入客户回单纸打印凭证信息。</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无纸化流水详情</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点击“无纸化流水详情”，查看该笔业务信息无纸化后的纸质凭证信息。</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授权流水详情</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点击“授权流水详情”，查看该笔业务信息进行授权时的相关业务信息。</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抹账</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①勾选需要抹账的交易信息，确认后点击“抹账”进入抹账界面。查看业务办理详细信息后，确认抹账，点击“提交”。</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②由上级柜员输入柜员号及密码进行授权操作。</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③完成授权后，系统回显抹账结果，点击“确定”，退回流水查询界面。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业务规则</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①支持任意时间段柜员流水查询，查询起止时间间隔最长1年。</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②凭证补打只是针对已生成无纸化凭证的交易进行凭证补打（重空凭证不允许补打）；补打凭证时需要累计补打次数，并在补打的凭证上记录对应次数；支持 6 个月内的凭证补打。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③当日交易冲正只允许经办柜员办理，隔日交易冲正允许业务发生网点任意柜员办理；需要现场审核通过提交授权，通过后发起冲正。</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机构签到</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使用范围</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每日营业前，机构通过业务系统准备进行业务受理时，使用本交易。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操作流程</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【交易代码】000101</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【交易权限】业务柜员和有权限的其他人员</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步骤1:柜员登录成功后，输入交易代码“000101”或场景名称进入“机构签到”场景界面。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步骤2:进入签到界面，点击“签到”，进入下一界面。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步骤3:查看签到信息，点击“提交”，完成机构签到交易。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【注意事项】：周末和节假日机构签退后，因紧急工作需要进行二次签到时需要县级管理机构相关人员进行复核（06：00-17:00 之间二次签到不复核，在此时间段外须复核）。</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机构轧账</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使用范围</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每日营业终了，完成当日所有受理业务结出本机构所有账务时或日渐由于盘库、上级检查等特殊原因，使用本交易。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操作流程</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【交易代码】000102</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【交易权限】业务柜员及其他有权限的人员</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步骤1:柜员成功登录后，输入交易代码“000102”或场景名称进入“机构轧账”场景界面。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步骤2:进入界面后，系统自动回显“日期”，选择扎账单“打印”或“不打印”，完成后点击“提交”。</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步骤3:选择“凭证归档”或等待60秒后，在打印机放入空白打印纸打印轧帐单。</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步骤4:打印完成后，信息回显，点击“确认”后退出场景。</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机构签退</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使用范围</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每日营业终了，所有柜员均完成签退且机构轧账打印成功、签退前的系统校验检查通过后，点击机构签退完成操作。</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操作流程</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【交易代码】000103</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【交易权限】业务柜员及其他有权限的人员</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步骤1:柜员成功签退后，输入交易代码“000103”或场景名称进入“机构签退”场景界面。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步骤2:进入交易后，点击“提交”，进入下一步。</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步骤3:回显机构签退信息，查看轧账状态，无误后点击“确定”。</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步骤4:查看交易结果，完成后点击“关闭”。</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【注意事项】：（1）在周末节假日时网点最后一名柜员正常签退后，联动提示是否机构签退；（2）签退时校验最后一名柜员是否进行了机构轧账单上传及打印，若未打印上传则不允许柜员签退。</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柜员签到</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使用范围</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每日营业前，进行机构签到后，柜员通过业务系统准备受理业务时，使用本交易。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操作流程</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【交易代码】000201</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【交易权限】业务柜员及其他有权限人员</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步骤1:柜员成功登录后，输入交易代码“000201”或场景名称进入“柜员签到”场景界面。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步骤2:点击“确定”，系统显示“柜员签到成功”，点击“确定”，退出交易。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柜员轧账</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使用范围</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每日营业终了或日间由于盘库、上级检查等特殊原因，需要轧平当日账务或结出清点账务时，使用本交易。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操作流程</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【交易代码】000202</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【交易权限】业务柜员及其他有权限的人员</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步骤1:柜员成功登录后，输入交易代码“000202”或场景名称进入“柜员轧账”场景界面。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步骤2:系统自动回显“日期”，进入界面后，选择“轧账单打印标志”，选择“打印”或“不打印”，完成后点击“提交”。</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步骤3:系统提示“是否营业终了轧账”，点击“确定”或“取消”。</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步骤4:进行“凭证归档”或等待60秒后“打印纸质凭证”。</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步骤5：信息回显，点击“确认”后退出场景。</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柜员签退</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使用范围</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每日营业终了，柜员完成当日所有受理业务，准备退出业务系统时，使用本交易。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操作流程</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【交易代码】000203</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【交易权限】业务柜员</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步骤1:柜员成功登录后，输入交易代码“000203”或场景名称进入“柜员签退”场景界面。</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
            <a:ext cx="10545775" cy="822960"/>
          </a:xfrm>
          <a:prstGeom prst="rect">
            <a:avLst/>
          </a:prstGeom>
          <a:noFill/>
        </p:spPr>
        <p:txBody>
          <a:bodyPr wrap="square">
            <a:spAutoFit/>
          </a:bodyPr>
          <a:lstStyle/>
          <a:p>
            <a:pPr algn="l">
              <a:defRPr sz="2800" b="1">
                <a:solidFill>
                  <a:srgbClr val="FFFFFF"/>
                </a:solidFill>
                <a:latin typeface="Helvetica"/>
              </a:defRPr>
            </a:pPr>
            <a:r>
              <a:t>步骤2:进入界面后，点击“确定”，系统显示“柜员签退成功”，点击“确定”，退出交易。</a:t>
            </a:r>
          </a:p>
        </p:txBody>
      </p:sp>
      <p:sp>
        <p:nvSpPr>
          <p:cNvPr id="4" name="TextBox 3"/>
          <p:cNvSpPr txBox="1"/>
          <p:nvPr/>
        </p:nvSpPr>
        <p:spPr>
          <a:xfrm>
            <a:off x="822960" y="1645920"/>
            <a:ext cx="10545775" cy="4572000"/>
          </a:xfrm>
          <a:prstGeom prst="rect">
            <a:avLst/>
          </a:prstGeom>
          <a:noFill/>
        </p:spPr>
        <p:txBody>
          <a:bodyPr wrap="square">
            <a:spAutoFit/>
          </a:bodyPr>
          <a:lstStyle/>
          <a:p>
            <a:pPr algn="l">
              <a:defRPr sz="1800" b="0">
                <a:solidFill>
                  <a:srgbClr val="5A6A7A"/>
                </a:solidFill>
                <a:latin typeface="Helvetica"/>
              </a:defRPr>
            </a:pPr>
            <a:r>
              <a:t>（无内容）</a:t>
            </a:r>
          </a:p>
        </p:txBody>
      </p:sp>
      <p:sp>
        <p:nvSpPr>
          <p:cNvPr id="5" name="Rectangle 4"/>
          <p:cNvSpPr/>
          <p:nvPr/>
        </p:nvSpPr>
        <p:spPr>
          <a:xfrm>
            <a:off x="822960" y="6446520"/>
            <a:ext cx="10545775" cy="13716"/>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